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3"/>
  </p:notesMasterIdLst>
  <p:sldIdLst>
    <p:sldId id="256" r:id="rId2"/>
    <p:sldId id="257" r:id="rId3"/>
    <p:sldId id="258" r:id="rId4"/>
    <p:sldId id="267" r:id="rId5"/>
    <p:sldId id="259" r:id="rId6"/>
    <p:sldId id="260" r:id="rId7"/>
    <p:sldId id="268" r:id="rId8"/>
    <p:sldId id="269" r:id="rId9"/>
    <p:sldId id="262" r:id="rId10"/>
    <p:sldId id="263" r:id="rId11"/>
    <p:sldId id="266" r:id="rId12"/>
  </p:sldIdLst>
  <p:sldSz cx="9144000" cy="5143500" type="screen16x9"/>
  <p:notesSz cx="6858000" cy="9144000"/>
  <p:embeddedFontLst>
    <p:embeddedFont>
      <p:font typeface="Manrope" panose="020B0604020202020204" charset="0"/>
      <p:regular r:id="rId14"/>
      <p:bold r:id="rId15"/>
    </p:embeddedFont>
    <p:embeddedFont>
      <p:font typeface="Manrope SemiBold" panose="020B0604020202020204" charset="0"/>
      <p:regular r:id="rId16"/>
      <p:bold r:id="rId1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3" d="100"/>
          <a:sy n="103" d="100"/>
        </p:scale>
        <p:origin x="874" y="77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3b6c7e62156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g3b6c7e62156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b6c7e62156_0_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3b6c7e62156_0_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">
          <a:extLst>
            <a:ext uri="{FF2B5EF4-FFF2-40B4-BE49-F238E27FC236}">
              <a16:creationId xmlns:a16="http://schemas.microsoft.com/office/drawing/2014/main" id="{23EAFBA8-3624-55E3-CC92-02A58D2726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b6c7e62156_0_13:notes">
            <a:extLst>
              <a:ext uri="{FF2B5EF4-FFF2-40B4-BE49-F238E27FC236}">
                <a16:creationId xmlns:a16="http://schemas.microsoft.com/office/drawing/2014/main" id="{A41F7820-1E80-2422-8BF8-BAA1DA332A5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3b6c7e62156_0_13:notes">
            <a:extLst>
              <a:ext uri="{FF2B5EF4-FFF2-40B4-BE49-F238E27FC236}">
                <a16:creationId xmlns:a16="http://schemas.microsoft.com/office/drawing/2014/main" id="{6C0BF67B-56E7-9166-BBC5-127DB8C6BAA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04080331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3b6c7e62156_0_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3b6c7e62156_0_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3b6c7e62156_0_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3b6c7e62156_0_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">
          <a:extLst>
            <a:ext uri="{FF2B5EF4-FFF2-40B4-BE49-F238E27FC236}">
              <a16:creationId xmlns:a16="http://schemas.microsoft.com/office/drawing/2014/main" id="{EAB0C693-BE5C-F48E-7C9E-385423AECD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3b6c7e62156_0_23:notes">
            <a:extLst>
              <a:ext uri="{FF2B5EF4-FFF2-40B4-BE49-F238E27FC236}">
                <a16:creationId xmlns:a16="http://schemas.microsoft.com/office/drawing/2014/main" id="{3B19F8D9-B349-B0E3-48B2-38F6FF437B5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3b6c7e62156_0_23:notes">
            <a:extLst>
              <a:ext uri="{FF2B5EF4-FFF2-40B4-BE49-F238E27FC236}">
                <a16:creationId xmlns:a16="http://schemas.microsoft.com/office/drawing/2014/main" id="{57C00809-A47C-FB90-8268-B8ABB1AF19D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2849457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">
          <a:extLst>
            <a:ext uri="{FF2B5EF4-FFF2-40B4-BE49-F238E27FC236}">
              <a16:creationId xmlns:a16="http://schemas.microsoft.com/office/drawing/2014/main" id="{0B1DD04A-976F-CCA0-FA34-EBF901BF69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3b6c7e62156_0_23:notes">
            <a:extLst>
              <a:ext uri="{FF2B5EF4-FFF2-40B4-BE49-F238E27FC236}">
                <a16:creationId xmlns:a16="http://schemas.microsoft.com/office/drawing/2014/main" id="{C43FA345-4513-E5DB-CF88-26ABED8D9CB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3b6c7e62156_0_23:notes">
            <a:extLst>
              <a:ext uri="{FF2B5EF4-FFF2-40B4-BE49-F238E27FC236}">
                <a16:creationId xmlns:a16="http://schemas.microsoft.com/office/drawing/2014/main" id="{6AE1CBA3-15AA-412A-6994-39045533B93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05490865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b6c7e62156_0_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3b6c7e62156_0_3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b6c7e62156_0_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3b6c7e62156_0_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b6c7e62156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3b6c7e62156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 title="Artscfghgboard – 5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Google Shape;55;p13"/>
          <p:cNvSpPr txBox="1"/>
          <p:nvPr/>
        </p:nvSpPr>
        <p:spPr>
          <a:xfrm>
            <a:off x="383675" y="3446998"/>
            <a:ext cx="8520600" cy="44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dirty="0">
                <a:solidFill>
                  <a:srgbClr val="202729"/>
                </a:solidFill>
                <a:latin typeface="Manrope SemiBold"/>
                <a:ea typeface="Manrope SemiBold"/>
                <a:cs typeface="Manrope SemiBold"/>
                <a:sym typeface="Manrope SemiBold"/>
              </a:rPr>
              <a:t>Team Name : </a:t>
            </a:r>
            <a:r>
              <a:rPr lang="en-GB" sz="1600" dirty="0" err="1">
                <a:solidFill>
                  <a:srgbClr val="202729"/>
                </a:solidFill>
                <a:latin typeface="Manrope SemiBold"/>
                <a:ea typeface="Manrope SemiBold"/>
                <a:cs typeface="Manrope SemiBold"/>
                <a:sym typeface="Manrope SemiBold"/>
              </a:rPr>
              <a:t>CommitOfOne</a:t>
            </a:r>
            <a:endParaRPr sz="1600" dirty="0">
              <a:solidFill>
                <a:srgbClr val="202729"/>
              </a:solidFill>
              <a:latin typeface="Manrope SemiBold"/>
              <a:ea typeface="Manrope SemiBold"/>
              <a:cs typeface="Manrope SemiBold"/>
              <a:sym typeface="Manrope SemiBold"/>
            </a:endParaRPr>
          </a:p>
        </p:txBody>
      </p:sp>
      <p:sp>
        <p:nvSpPr>
          <p:cNvPr id="56" name="Google Shape;56;p13"/>
          <p:cNvSpPr txBox="1"/>
          <p:nvPr/>
        </p:nvSpPr>
        <p:spPr>
          <a:xfrm>
            <a:off x="383680" y="4298160"/>
            <a:ext cx="8520600" cy="40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dirty="0">
                <a:solidFill>
                  <a:srgbClr val="202729"/>
                </a:solidFill>
                <a:latin typeface="Manrope SemiBold"/>
                <a:ea typeface="Manrope SemiBold"/>
                <a:cs typeface="Manrope SemiBold"/>
                <a:sym typeface="Manrope SemiBold"/>
              </a:rPr>
              <a:t>Problem Statement : AI for Communities, Access &amp; Public Impact</a:t>
            </a:r>
            <a:endParaRPr sz="1600" dirty="0">
              <a:solidFill>
                <a:srgbClr val="202729"/>
              </a:solidFill>
              <a:latin typeface="Manrope SemiBold"/>
              <a:ea typeface="Manrope SemiBold"/>
              <a:cs typeface="Manrope SemiBold"/>
              <a:sym typeface="Manrope SemiBold"/>
            </a:endParaRPr>
          </a:p>
        </p:txBody>
      </p:sp>
      <p:sp>
        <p:nvSpPr>
          <p:cNvPr id="57" name="Google Shape;57;p13"/>
          <p:cNvSpPr txBox="1"/>
          <p:nvPr/>
        </p:nvSpPr>
        <p:spPr>
          <a:xfrm>
            <a:off x="383663" y="3854458"/>
            <a:ext cx="8520600" cy="44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dirty="0">
                <a:solidFill>
                  <a:srgbClr val="202729"/>
                </a:solidFill>
                <a:latin typeface="Manrope SemiBold"/>
                <a:ea typeface="Manrope SemiBold"/>
                <a:cs typeface="Manrope SemiBold"/>
                <a:sym typeface="Manrope SemiBold"/>
              </a:rPr>
              <a:t>Team Leader Name : Anshul Wycliffe</a:t>
            </a:r>
            <a:endParaRPr sz="1600" dirty="0">
              <a:solidFill>
                <a:srgbClr val="202729"/>
              </a:solidFill>
              <a:latin typeface="Manrope SemiBold"/>
              <a:ea typeface="Manrope SemiBold"/>
              <a:cs typeface="Manrope SemiBold"/>
              <a:sym typeface="Manrope SemiBold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" name="Google Shape;62;p14" title="Artboarddfghjk – 6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63" name="Google Shape;63;p14"/>
          <p:cNvSpPr txBox="1"/>
          <p:nvPr/>
        </p:nvSpPr>
        <p:spPr>
          <a:xfrm>
            <a:off x="311700" y="863550"/>
            <a:ext cx="8420820" cy="40620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2500" lnSpcReduction="10000"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935"/>
              <a:buNone/>
            </a:pPr>
            <a:r>
              <a:rPr lang="en-GB" sz="1700" b="1" dirty="0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Brief about the Idea:</a:t>
            </a: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935"/>
              <a:buNone/>
            </a:pPr>
            <a:r>
              <a:rPr lang="en-GB" sz="1200" dirty="0" err="1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CivicBio</a:t>
            </a:r>
            <a:r>
              <a:rPr lang="en-GB" sz="1200" dirty="0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 – Smart Biomedical Waste Governance </a:t>
            </a:r>
            <a:r>
              <a:rPr lang="en-GB" sz="1200" dirty="0" err="1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SystemCivicBio</a:t>
            </a:r>
            <a:r>
              <a:rPr lang="en-GB" sz="1200" dirty="0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 is a QR-enabled, role-based biomedical waste management platform designed for civic bodies to </a:t>
            </a:r>
            <a:r>
              <a:rPr lang="en-GB" sz="1200" dirty="0" err="1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ensure:End-to-end</a:t>
            </a:r>
            <a:r>
              <a:rPr lang="en-GB" sz="1200" dirty="0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 waste </a:t>
            </a:r>
            <a:r>
              <a:rPr lang="en-GB" sz="1200" dirty="0" err="1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traceabilityRegulatory</a:t>
            </a:r>
            <a:r>
              <a:rPr lang="en-GB" sz="1200" dirty="0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 </a:t>
            </a:r>
            <a:r>
              <a:rPr lang="en-GB" sz="1200" dirty="0" err="1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complianceReal</a:t>
            </a:r>
            <a:r>
              <a:rPr lang="en-GB" sz="1200" dirty="0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-time </a:t>
            </a:r>
            <a:r>
              <a:rPr lang="en-GB" sz="1200" dirty="0" err="1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monitoringAI</a:t>
            </a:r>
            <a:r>
              <a:rPr lang="en-GB" sz="1200" dirty="0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-powered anomaly detection</a:t>
            </a: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buSzPts val="935"/>
              <a:buNone/>
            </a:pPr>
            <a:r>
              <a:rPr lang="en-GB" sz="1200" dirty="0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# Problem</a:t>
            </a:r>
          </a:p>
          <a:p>
            <a:pPr lvl="0" algn="l" rtl="0">
              <a:lnSpc>
                <a:spcPct val="115000"/>
              </a:lnSpc>
              <a:spcBef>
                <a:spcPts val="0"/>
              </a:spcBef>
              <a:buSzPts val="935"/>
            </a:pPr>
            <a:r>
              <a:rPr lang="en-US" sz="1200" dirty="0"/>
              <a:t>Biomedical waste is:</a:t>
            </a:r>
          </a:p>
          <a:p>
            <a:pPr marL="171450" lvl="7" indent="-171450">
              <a:lnSpc>
                <a:spcPct val="115000"/>
              </a:lnSpc>
              <a:buSzPts val="935"/>
              <a:buFont typeface="Arial" panose="020B0604020202020204" pitchFamily="34" charset="0"/>
              <a:buChar char="•"/>
            </a:pPr>
            <a:r>
              <a:rPr lang="en-US" sz="1200" dirty="0"/>
              <a:t>Manually tracked</a:t>
            </a:r>
          </a:p>
          <a:p>
            <a:pPr marL="171450" lvl="6" indent="-171450">
              <a:lnSpc>
                <a:spcPct val="115000"/>
              </a:lnSpc>
              <a:buSzPts val="935"/>
              <a:buFont typeface="Arial" panose="020B0604020202020204" pitchFamily="34" charset="0"/>
              <a:buChar char="•"/>
            </a:pPr>
            <a:r>
              <a:rPr lang="en-US" sz="1200" dirty="0"/>
              <a:t>Poorly audited</a:t>
            </a:r>
          </a:p>
          <a:p>
            <a:pPr marL="171450" lvl="6" indent="-171450">
              <a:lnSpc>
                <a:spcPct val="115000"/>
              </a:lnSpc>
              <a:buSzPts val="935"/>
              <a:buFont typeface="Arial" panose="020B0604020202020204" pitchFamily="34" charset="0"/>
              <a:buChar char="•"/>
            </a:pPr>
            <a:r>
              <a:rPr lang="en-US" sz="1200" dirty="0"/>
              <a:t>Vulnerable to misreporting</a:t>
            </a:r>
          </a:p>
          <a:p>
            <a:pPr marL="171450" lvl="6" indent="-171450">
              <a:lnSpc>
                <a:spcPct val="115000"/>
              </a:lnSpc>
              <a:buSzPts val="935"/>
              <a:buFont typeface="Arial" panose="020B0604020202020204" pitchFamily="34" charset="0"/>
              <a:buChar char="•"/>
            </a:pPr>
            <a:r>
              <a:rPr lang="en-US" sz="1200" dirty="0"/>
              <a:t>Hard to monitor at city scale</a:t>
            </a:r>
          </a:p>
          <a:p>
            <a:pPr lvl="6">
              <a:lnSpc>
                <a:spcPct val="115000"/>
              </a:lnSpc>
              <a:buSzPts val="935"/>
            </a:pPr>
            <a:endParaRPr lang="en-US" sz="1200" dirty="0"/>
          </a:p>
          <a:p>
            <a:pPr lvl="6">
              <a:lnSpc>
                <a:spcPct val="115000"/>
              </a:lnSpc>
              <a:buSzPts val="935"/>
            </a:pPr>
            <a:r>
              <a:rPr lang="en-US" sz="1200" dirty="0"/>
              <a:t># Our Idea </a:t>
            </a:r>
          </a:p>
          <a:p>
            <a:pPr lvl="6">
              <a:lnSpc>
                <a:spcPct val="115000"/>
              </a:lnSpc>
              <a:buSzPts val="935"/>
            </a:pPr>
            <a:r>
              <a:rPr lang="en-US" sz="1200" dirty="0"/>
              <a:t>Digitize the entire lifecycle:</a:t>
            </a:r>
          </a:p>
          <a:p>
            <a:pPr marL="171450" lvl="6" indent="-171450">
              <a:lnSpc>
                <a:spcPct val="115000"/>
              </a:lnSpc>
              <a:buSzPts val="935"/>
              <a:buFont typeface="Arial" panose="020B0604020202020204" pitchFamily="34" charset="0"/>
              <a:buChar char="•"/>
            </a:pPr>
            <a:r>
              <a:rPr lang="en-US" sz="1200" dirty="0"/>
              <a:t>Facility → QR Generation → Collection → Disposal → Civic Audit</a:t>
            </a:r>
          </a:p>
          <a:p>
            <a:pPr lvl="6">
              <a:lnSpc>
                <a:spcPct val="115000"/>
              </a:lnSpc>
              <a:buSzPts val="935"/>
            </a:pPr>
            <a:endParaRPr lang="en-US" sz="1200" dirty="0"/>
          </a:p>
          <a:p>
            <a:pPr lvl="6">
              <a:lnSpc>
                <a:spcPct val="115000"/>
              </a:lnSpc>
              <a:buSzPts val="935"/>
            </a:pPr>
            <a:r>
              <a:rPr lang="en-US" sz="1200" dirty="0"/>
              <a:t># With:</a:t>
            </a:r>
          </a:p>
          <a:p>
            <a:pPr marL="171450" lvl="6" indent="-171450">
              <a:lnSpc>
                <a:spcPct val="115000"/>
              </a:lnSpc>
              <a:buSzPts val="935"/>
              <a:buFont typeface="Arial" panose="020B0604020202020204" pitchFamily="34" charset="0"/>
              <a:buChar char="•"/>
            </a:pPr>
            <a:r>
              <a:rPr lang="en-US" sz="1200" dirty="0"/>
              <a:t>AWS-powered anomaly detection</a:t>
            </a:r>
          </a:p>
          <a:p>
            <a:pPr marL="171450" lvl="6" indent="-171450">
              <a:lnSpc>
                <a:spcPct val="115000"/>
              </a:lnSpc>
              <a:buSzPts val="935"/>
              <a:buFont typeface="Arial" panose="020B0604020202020204" pitchFamily="34" charset="0"/>
              <a:buChar char="•"/>
            </a:pPr>
            <a:r>
              <a:rPr lang="en-US" sz="1200" dirty="0"/>
              <a:t>Real-time dashboards</a:t>
            </a:r>
          </a:p>
          <a:p>
            <a:pPr marL="171450" lvl="6" indent="-171450">
              <a:lnSpc>
                <a:spcPct val="115000"/>
              </a:lnSpc>
              <a:buSzPts val="935"/>
              <a:buFont typeface="Arial" panose="020B0604020202020204" pitchFamily="34" charset="0"/>
              <a:buChar char="•"/>
            </a:pPr>
            <a:r>
              <a:rPr lang="en-US" sz="1200" dirty="0"/>
              <a:t>Cloud-based logging &amp; monitoring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" name="Google Shape;68;p15" title="Artboarddfghjk – 6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18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69" name="Google Shape;69;p15"/>
          <p:cNvSpPr txBox="1"/>
          <p:nvPr/>
        </p:nvSpPr>
        <p:spPr>
          <a:xfrm>
            <a:off x="455570" y="863550"/>
            <a:ext cx="3918337" cy="3039377"/>
          </a:xfrm>
          <a:prstGeom prst="rect">
            <a:avLst/>
          </a:prstGeom>
          <a:ln w="952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spcFirstLastPara="1" wrap="square" lIns="91425" tIns="91425" rIns="91425" bIns="91425" anchor="t" anchorCtr="0">
            <a:normAutofit/>
          </a:bodyPr>
          <a:lstStyle/>
          <a:p>
            <a:pPr>
              <a:buNone/>
            </a:pPr>
            <a:r>
              <a:rPr lang="en-IN" b="1" dirty="0"/>
              <a:t>🔥 1. Governance-First Design</a:t>
            </a:r>
          </a:p>
          <a:p>
            <a:pPr>
              <a:buNone/>
            </a:pPr>
            <a:endParaRPr lang="en-IN" b="1" dirty="0"/>
          </a:p>
          <a:p>
            <a:pPr>
              <a:buNone/>
            </a:pPr>
            <a:r>
              <a:rPr lang="en-IN" dirty="0"/>
              <a:t>Most systems focus only on: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dirty="0"/>
              <a:t>Logistics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dirty="0"/>
              <a:t>Tracking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IN" dirty="0"/>
          </a:p>
          <a:p>
            <a:pPr>
              <a:buNone/>
            </a:pPr>
            <a:r>
              <a:rPr lang="en-IN" dirty="0" err="1"/>
              <a:t>CivicBio</a:t>
            </a:r>
            <a:r>
              <a:rPr lang="en-IN" dirty="0"/>
              <a:t> focuses on: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dirty="0"/>
              <a:t>Accountability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dirty="0"/>
              <a:t>Civic approval control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dirty="0"/>
              <a:t>AI-based anomaly detection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dirty="0"/>
              <a:t>Audit logging via AWS CloudWatch</a:t>
            </a:r>
          </a:p>
        </p:txBody>
      </p:sp>
      <p:sp>
        <p:nvSpPr>
          <p:cNvPr id="3" name="Google Shape;69;p15">
            <a:extLst>
              <a:ext uri="{FF2B5EF4-FFF2-40B4-BE49-F238E27FC236}">
                <a16:creationId xmlns:a16="http://schemas.microsoft.com/office/drawing/2014/main" id="{A4C572F2-D02F-FDFF-B101-4074F17B9622}"/>
              </a:ext>
            </a:extLst>
          </p:cNvPr>
          <p:cNvSpPr txBox="1"/>
          <p:nvPr/>
        </p:nvSpPr>
        <p:spPr>
          <a:xfrm>
            <a:off x="4571991" y="863550"/>
            <a:ext cx="3982615" cy="3039377"/>
          </a:xfrm>
          <a:prstGeom prst="rect">
            <a:avLst/>
          </a:prstGeom>
          <a:ln w="952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spcFirstLastPara="1" wrap="square" lIns="91425" tIns="91425" rIns="91425" bIns="91425" anchor="t" anchorCtr="0">
            <a:normAutofit fontScale="92500" lnSpcReduction="10000"/>
          </a:bodyPr>
          <a:lstStyle/>
          <a:p>
            <a:pPr>
              <a:buNone/>
            </a:pPr>
            <a:r>
              <a:rPr lang="en-IN" b="1" dirty="0"/>
              <a:t>🔥 2. AI-Based Statistical Anomaly Detection</a:t>
            </a:r>
          </a:p>
          <a:p>
            <a:pPr>
              <a:buNone/>
            </a:pPr>
            <a:endParaRPr lang="en-IN" b="1" dirty="0"/>
          </a:p>
          <a:p>
            <a:pPr lvl="1"/>
            <a:r>
              <a:rPr lang="en-IN" dirty="0"/>
              <a:t>Instead of just tracking waste,</a:t>
            </a:r>
            <a:br>
              <a:rPr lang="en-IN" dirty="0"/>
            </a:br>
            <a:r>
              <a:rPr lang="en-IN" dirty="0"/>
              <a:t>we detect:</a:t>
            </a:r>
          </a:p>
          <a:p>
            <a:pPr marL="171450" lvl="1" indent="-171450">
              <a:buFont typeface="Arial" panose="020B0604020202020204" pitchFamily="34" charset="0"/>
              <a:buChar char="•"/>
            </a:pPr>
            <a:r>
              <a:rPr lang="en-IN" dirty="0"/>
              <a:t>Sudden spikes in waste</a:t>
            </a:r>
          </a:p>
          <a:p>
            <a:pPr marL="171450" lvl="1" indent="-171450">
              <a:buFont typeface="Arial" panose="020B0604020202020204" pitchFamily="34" charset="0"/>
              <a:buChar char="•"/>
            </a:pPr>
            <a:r>
              <a:rPr lang="en-IN" dirty="0"/>
              <a:t>Unusual patterns</a:t>
            </a:r>
          </a:p>
          <a:p>
            <a:pPr marL="171450" lvl="1" indent="-171450">
              <a:buFont typeface="Arial" panose="020B0604020202020204" pitchFamily="34" charset="0"/>
              <a:buChar char="•"/>
            </a:pPr>
            <a:r>
              <a:rPr lang="en-IN" dirty="0"/>
              <a:t>Suspicious reporting</a:t>
            </a:r>
          </a:p>
          <a:p>
            <a:pPr lvl="1"/>
            <a:endParaRPr lang="en-IN" dirty="0"/>
          </a:p>
          <a:p>
            <a:pPr>
              <a:buNone/>
            </a:pPr>
            <a:r>
              <a:rPr lang="en-IN" dirty="0"/>
              <a:t>Using: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b="1" dirty="0">
                <a:latin typeface="Courier New" panose="02070309020205020404" pitchFamily="49" charset="0"/>
              </a:rPr>
              <a:t>Z-score Statistical Detection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b="1" dirty="0">
                <a:latin typeface="Courier New" panose="02070309020205020404" pitchFamily="49" charset="0"/>
              </a:rPr>
              <a:t>(Mean &amp; Standard Deviation)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endParaRPr lang="en-IN" b="1" dirty="0">
              <a:latin typeface="Courier New" panose="02070309020205020404" pitchFamily="49" charset="0"/>
            </a:endParaRPr>
          </a:p>
          <a:p>
            <a:pPr>
              <a:buNone/>
            </a:pPr>
            <a:r>
              <a:rPr lang="en-IN" dirty="0"/>
              <a:t>Powered by: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AWS Lambda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Serverless architecture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">
          <a:extLst>
            <a:ext uri="{FF2B5EF4-FFF2-40B4-BE49-F238E27FC236}">
              <a16:creationId xmlns:a16="http://schemas.microsoft.com/office/drawing/2014/main" id="{41F967B5-E407-4763-A301-DF36E966D6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" name="Google Shape;68;p15" title="Artboarddfghjk – 6.png">
            <a:extLst>
              <a:ext uri="{FF2B5EF4-FFF2-40B4-BE49-F238E27FC236}">
                <a16:creationId xmlns:a16="http://schemas.microsoft.com/office/drawing/2014/main" id="{B080ABBE-C520-B243-B44B-63D85C388D63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18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Google Shape;69;p15">
            <a:extLst>
              <a:ext uri="{FF2B5EF4-FFF2-40B4-BE49-F238E27FC236}">
                <a16:creationId xmlns:a16="http://schemas.microsoft.com/office/drawing/2014/main" id="{F0AC8E9D-8CFA-7F51-1876-3A2F3C7137C7}"/>
              </a:ext>
            </a:extLst>
          </p:cNvPr>
          <p:cNvSpPr txBox="1"/>
          <p:nvPr/>
        </p:nvSpPr>
        <p:spPr>
          <a:xfrm>
            <a:off x="460917" y="863550"/>
            <a:ext cx="3850889" cy="284608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>
              <a:buNone/>
            </a:pPr>
            <a:r>
              <a:rPr lang="en-US" b="1" dirty="0"/>
              <a:t>🔥 3. Serverless &amp; Scalable</a:t>
            </a:r>
          </a:p>
          <a:p>
            <a:pPr>
              <a:buNone/>
            </a:pPr>
            <a:endParaRPr lang="en-US" b="1" dirty="0"/>
          </a:p>
          <a:p>
            <a:pPr>
              <a:buNone/>
            </a:pPr>
            <a:r>
              <a:rPr lang="en-US" dirty="0"/>
              <a:t>Unlike traditional systems: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No heavy servers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No complex ML pipelines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None/>
            </a:pPr>
            <a:r>
              <a:rPr lang="en-US" dirty="0"/>
              <a:t>We use: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AWS Lambda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CloudWatch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MongoDB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None/>
            </a:pPr>
            <a:r>
              <a:rPr lang="en-US" dirty="0"/>
              <a:t>Scales automatically.</a:t>
            </a:r>
          </a:p>
        </p:txBody>
      </p:sp>
    </p:spTree>
    <p:extLst>
      <p:ext uri="{BB962C8B-B14F-4D97-AF65-F5344CB8AC3E}">
        <p14:creationId xmlns:p14="http://schemas.microsoft.com/office/powerpoint/2010/main" val="195551705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" name="Google Shape;74;p16" title="Artboarddfghjk – 6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75" name="Google Shape;75;p16"/>
          <p:cNvSpPr txBox="1"/>
          <p:nvPr/>
        </p:nvSpPr>
        <p:spPr>
          <a:xfrm>
            <a:off x="311700" y="863549"/>
            <a:ext cx="8609276" cy="39463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35"/>
              <a:buNone/>
            </a:pPr>
            <a:r>
              <a:rPr lang="en-GB" sz="1700" b="1" dirty="0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List of features offered by the solution</a:t>
            </a:r>
            <a:endParaRPr sz="1700" b="1" dirty="0">
              <a:solidFill>
                <a:srgbClr val="202729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935"/>
              <a:buNone/>
            </a:pPr>
            <a:r>
              <a:rPr lang="en-GB" dirty="0">
                <a:solidFill>
                  <a:srgbClr val="434343"/>
                </a:solidFill>
                <a:latin typeface="Manrope"/>
                <a:ea typeface="Manrope"/>
                <a:cs typeface="Manrope"/>
                <a:sym typeface="Manrope"/>
              </a:rPr>
              <a:t>.</a:t>
            </a:r>
            <a:endParaRPr dirty="0">
              <a:solidFill>
                <a:srgbClr val="434343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C5C6364-A8DD-52FD-99E5-AAF04522F39E}"/>
              </a:ext>
            </a:extLst>
          </p:cNvPr>
          <p:cNvSpPr/>
          <p:nvPr/>
        </p:nvSpPr>
        <p:spPr>
          <a:xfrm>
            <a:off x="423745" y="1509132"/>
            <a:ext cx="2185639" cy="106261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b="1" dirty="0"/>
              <a:t>Facility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Waste generation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QR code tagging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Compliance status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D13C7FC-5CCA-9050-B8AB-47547BA01F70}"/>
              </a:ext>
            </a:extLst>
          </p:cNvPr>
          <p:cNvSpPr/>
          <p:nvPr/>
        </p:nvSpPr>
        <p:spPr>
          <a:xfrm>
            <a:off x="423744" y="2739483"/>
            <a:ext cx="3560957" cy="1274956"/>
          </a:xfrm>
          <a:prstGeom prst="rect">
            <a:avLst/>
          </a:prstGeom>
          <a:solidFill>
            <a:schemeClr val="tx2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/>
              <a:t>Civic Authority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Approval workflow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Real-time KPIs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Anomaly detection alerts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High-risk facility detection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16817A0-D0A3-9402-718B-4E081A63BADD}"/>
              </a:ext>
            </a:extLst>
          </p:cNvPr>
          <p:cNvSpPr/>
          <p:nvPr/>
        </p:nvSpPr>
        <p:spPr>
          <a:xfrm>
            <a:off x="2787806" y="1509132"/>
            <a:ext cx="2512740" cy="1062618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/>
              <a:t>Collector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Facility verification via QR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Waste batch scanning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Issue reporting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E304549-C6FF-916B-1A5C-7A4E6E95B026}"/>
              </a:ext>
            </a:extLst>
          </p:cNvPr>
          <p:cNvSpPr/>
          <p:nvPr/>
        </p:nvSpPr>
        <p:spPr>
          <a:xfrm>
            <a:off x="4155688" y="2746917"/>
            <a:ext cx="3910361" cy="1267522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/>
              <a:t>AI Layer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30-day historical analysis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Z-score anomaly detection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High-risk scoring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Cloud logging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8C7725F-A516-5056-593D-FE93F085469A}"/>
              </a:ext>
            </a:extLst>
          </p:cNvPr>
          <p:cNvSpPr/>
          <p:nvPr/>
        </p:nvSpPr>
        <p:spPr>
          <a:xfrm>
            <a:off x="5467813" y="1509132"/>
            <a:ext cx="2598236" cy="1062618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/>
              <a:t>Disposal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Waste verification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Treatment method logging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Disposal confirmation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0" name="Google Shape;80;p17" title="Artboarddfghjk – 6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81" name="Google Shape;81;p17"/>
          <p:cNvSpPr txBox="1"/>
          <p:nvPr/>
        </p:nvSpPr>
        <p:spPr>
          <a:xfrm>
            <a:off x="311700" y="863550"/>
            <a:ext cx="7531800" cy="366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35"/>
              <a:buNone/>
            </a:pPr>
            <a:r>
              <a:rPr lang="en-GB" sz="1700" b="1" dirty="0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Process flow diagram or Use-case diagram</a:t>
            </a:r>
            <a:endParaRPr sz="1700" b="1" dirty="0">
              <a:solidFill>
                <a:srgbClr val="202729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D4FFD2A-E4F6-0B88-6611-D9C1FB24AA50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32526" r="31854" b="65456"/>
          <a:stretch>
            <a:fillRect/>
          </a:stretch>
        </p:blipFill>
        <p:spPr>
          <a:xfrm>
            <a:off x="1407798" y="1305428"/>
            <a:ext cx="6328404" cy="36696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9">
          <a:extLst>
            <a:ext uri="{FF2B5EF4-FFF2-40B4-BE49-F238E27FC236}">
              <a16:creationId xmlns:a16="http://schemas.microsoft.com/office/drawing/2014/main" id="{B42A18C1-13BF-6C81-F7BD-4A39A76B70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0" name="Google Shape;80;p17" title="Artboarddfghjk – 6.png">
            <a:extLst>
              <a:ext uri="{FF2B5EF4-FFF2-40B4-BE49-F238E27FC236}">
                <a16:creationId xmlns:a16="http://schemas.microsoft.com/office/drawing/2014/main" id="{F391E791-513F-83F0-5B9B-83989DFEB9D7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81" name="Google Shape;81;p17">
            <a:extLst>
              <a:ext uri="{FF2B5EF4-FFF2-40B4-BE49-F238E27FC236}">
                <a16:creationId xmlns:a16="http://schemas.microsoft.com/office/drawing/2014/main" id="{6ADAD221-9F8A-C0FD-3CDB-4E6E118C6B9C}"/>
              </a:ext>
            </a:extLst>
          </p:cNvPr>
          <p:cNvSpPr txBox="1"/>
          <p:nvPr/>
        </p:nvSpPr>
        <p:spPr>
          <a:xfrm>
            <a:off x="311700" y="863550"/>
            <a:ext cx="7531800" cy="366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35"/>
              <a:buNone/>
            </a:pPr>
            <a:r>
              <a:rPr lang="en-GB" sz="1700" b="1" dirty="0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Process flow diagram or Use-case diagram</a:t>
            </a:r>
            <a:endParaRPr sz="1700" b="1" dirty="0">
              <a:solidFill>
                <a:srgbClr val="202729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9CDFE61-F3F7-809B-9ABF-27FD1571819F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5413" t="33341" r="38967" b="33752"/>
          <a:stretch>
            <a:fillRect/>
          </a:stretch>
        </p:blipFill>
        <p:spPr>
          <a:xfrm>
            <a:off x="1300500" y="1306287"/>
            <a:ext cx="6787851" cy="36448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543964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9">
          <a:extLst>
            <a:ext uri="{FF2B5EF4-FFF2-40B4-BE49-F238E27FC236}">
              <a16:creationId xmlns:a16="http://schemas.microsoft.com/office/drawing/2014/main" id="{6BFC6C03-C571-DBA1-626A-B649A60C65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0" name="Google Shape;80;p17" title="Artboarddfghjk – 6.png">
            <a:extLst>
              <a:ext uri="{FF2B5EF4-FFF2-40B4-BE49-F238E27FC236}">
                <a16:creationId xmlns:a16="http://schemas.microsoft.com/office/drawing/2014/main" id="{A08BDF6B-0A87-9386-EC4D-9E70817A178D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81" name="Google Shape;81;p17">
            <a:extLst>
              <a:ext uri="{FF2B5EF4-FFF2-40B4-BE49-F238E27FC236}">
                <a16:creationId xmlns:a16="http://schemas.microsoft.com/office/drawing/2014/main" id="{FE1CBB57-D6BA-2164-D1BD-12B22F94C219}"/>
              </a:ext>
            </a:extLst>
          </p:cNvPr>
          <p:cNvSpPr txBox="1"/>
          <p:nvPr/>
        </p:nvSpPr>
        <p:spPr>
          <a:xfrm>
            <a:off x="311700" y="863550"/>
            <a:ext cx="7531800" cy="366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35"/>
              <a:buNone/>
            </a:pPr>
            <a:r>
              <a:rPr lang="en-GB" sz="1700" b="1" dirty="0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Process flow diagram or Use-case diagram</a:t>
            </a:r>
            <a:endParaRPr sz="1700" b="1" dirty="0">
              <a:solidFill>
                <a:srgbClr val="202729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AA54EA0-F490-FD64-4B22-472EEB6E43CA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9136" t="65863" r="35244" b="-407"/>
          <a:stretch>
            <a:fillRect/>
          </a:stretch>
        </p:blipFill>
        <p:spPr>
          <a:xfrm>
            <a:off x="1935622" y="1360346"/>
            <a:ext cx="6328404" cy="35671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170316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" name="Google Shape;92;p19" title="Artboarddfghjk – 6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19"/>
          <p:cNvSpPr txBox="1"/>
          <p:nvPr/>
        </p:nvSpPr>
        <p:spPr>
          <a:xfrm>
            <a:off x="311700" y="863550"/>
            <a:ext cx="7531800" cy="366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935"/>
              <a:buNone/>
            </a:pPr>
            <a:r>
              <a:rPr lang="en-GB" sz="1700" b="1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Architecture diagram of the proposed solution:</a:t>
            </a:r>
            <a:endParaRPr>
              <a:solidFill>
                <a:srgbClr val="434343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D0894FC-43E7-FC51-BDB0-38EBA4025847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7117" r="6859"/>
          <a:stretch>
            <a:fillRect/>
          </a:stretch>
        </p:blipFill>
        <p:spPr>
          <a:xfrm>
            <a:off x="1805940" y="1338648"/>
            <a:ext cx="5402580" cy="3650392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" name="Google Shape;98;p20" title="Artboarddfghjk – 6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20"/>
          <p:cNvSpPr txBox="1"/>
          <p:nvPr/>
        </p:nvSpPr>
        <p:spPr>
          <a:xfrm>
            <a:off x="281963" y="833814"/>
            <a:ext cx="7531800" cy="366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935"/>
              <a:buNone/>
            </a:pPr>
            <a:r>
              <a:rPr lang="en-GB" sz="1700" b="1" dirty="0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Technologies to be used in the solution:</a:t>
            </a: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935"/>
              <a:buNone/>
            </a:pPr>
            <a:endParaRPr dirty="0">
              <a:solidFill>
                <a:srgbClr val="434343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AFEB85C-D354-5C01-1CA6-07E6D04D7083}"/>
              </a:ext>
            </a:extLst>
          </p:cNvPr>
          <p:cNvSpPr/>
          <p:nvPr/>
        </p:nvSpPr>
        <p:spPr>
          <a:xfrm>
            <a:off x="446048" y="1493812"/>
            <a:ext cx="2531327" cy="107215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b="1" dirty="0"/>
              <a:t>Backend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Python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Flask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 err="1"/>
              <a:t>MongoEngine</a:t>
            </a:r>
            <a:r>
              <a:rPr lang="en-IN" dirty="0"/>
              <a:t> (MongoDB)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E0C1E87-D0F6-81B7-A3F4-C32C4C9C4563}"/>
              </a:ext>
            </a:extLst>
          </p:cNvPr>
          <p:cNvSpPr/>
          <p:nvPr/>
        </p:nvSpPr>
        <p:spPr>
          <a:xfrm>
            <a:off x="427418" y="2668614"/>
            <a:ext cx="2549957" cy="1152757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b="1" dirty="0"/>
              <a:t>Frontend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HTML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CSS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JavaScript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Bootstrap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2381989-D12D-FBBD-F612-68F2817FBE27}"/>
              </a:ext>
            </a:extLst>
          </p:cNvPr>
          <p:cNvSpPr/>
          <p:nvPr/>
        </p:nvSpPr>
        <p:spPr>
          <a:xfrm>
            <a:off x="3104200" y="1493812"/>
            <a:ext cx="4627222" cy="966030"/>
          </a:xfrm>
          <a:prstGeom prst="rect">
            <a:avLst/>
          </a:prstGeom>
          <a:solidFill>
            <a:schemeClr val="accent3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b="1" dirty="0"/>
              <a:t>AWS Cloud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AWS Lambda (Anomaly Detection)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CloudWatch (Audit Logging)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S3 (Optional Report Storage)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C89DA4A-70E9-14FA-6F4C-84650D0EF238}"/>
              </a:ext>
            </a:extLst>
          </p:cNvPr>
          <p:cNvSpPr/>
          <p:nvPr/>
        </p:nvSpPr>
        <p:spPr>
          <a:xfrm>
            <a:off x="3104200" y="2565966"/>
            <a:ext cx="4627222" cy="1255405"/>
          </a:xfrm>
          <a:prstGeom prst="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b="1" dirty="0"/>
              <a:t>AI Technique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Z-score based anomaly detection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Statistical </a:t>
            </a:r>
            <a:r>
              <a:rPr lang="en-IN" dirty="0" err="1"/>
              <a:t>modeling</a:t>
            </a:r>
            <a:r>
              <a:rPr lang="en-IN" dirty="0"/>
              <a:t> using Python standard library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6" name="Google Shape;116;p23" title="AI for Bharddat BANNER – 5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51</TotalTime>
  <Words>339</Words>
  <Application>Microsoft Office PowerPoint</Application>
  <PresentationFormat>On-screen Show (16:9)</PresentationFormat>
  <Paragraphs>102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Manrope SemiBold</vt:lpstr>
      <vt:lpstr>Wingdings</vt:lpstr>
      <vt:lpstr>Courier New</vt:lpstr>
      <vt:lpstr>Manrope</vt:lpstr>
      <vt:lpstr>Arial</vt:lpstr>
      <vt:lpstr>Simple Light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Anshul Wycliffe</cp:lastModifiedBy>
  <cp:revision>5</cp:revision>
  <dcterms:modified xsi:type="dcterms:W3CDTF">2026-02-15T05:37:03Z</dcterms:modified>
</cp:coreProperties>
</file>